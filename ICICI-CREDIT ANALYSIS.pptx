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/>
            </a:pPr>
            <a:r>
              <a:rPr lang="en-IN"/>
              <a:t>PAT trend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40888</c:v>
                </c:pt>
                <c:pt idx="1">
                  <c:v>47227</c:v>
                </c:pt>
                <c:pt idx="2">
                  <c:v>50147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F1-4B4B-9B4A-7D150D749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/>
            </a:pPr>
            <a:r>
              <a:rPr lang="en-IN"/>
              <a:t>Deposits vs advances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592212353338648"/>
          <c:y val="8.9317617444544431E-2"/>
          <c:w val="0.86328995696743616"/>
          <c:h val="0.8065271950627604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Deposits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1412825</c:v>
                </c:pt>
                <c:pt idx="1">
                  <c:v>1610348</c:v>
                </c:pt>
                <c:pt idx="2">
                  <c:v>1794625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B8-4454-AEB9-7953C4774D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Advances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1184406</c:v>
                </c:pt>
                <c:pt idx="1">
                  <c:v>1341766</c:v>
                </c:pt>
                <c:pt idx="2">
                  <c:v>1553893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B8-4454-AEB9-7953C4774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7126638624756303"/>
          <c:y val="0.94271928173045183"/>
          <c:w val="0.25746722750487383"/>
          <c:h val="5.7280718269547989E-2"/>
        </c:manualLayout>
      </c:layout>
      <c:overlay val="1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/>
            </a:pPr>
            <a:r>
              <a:rPr lang="en-IN"/>
              <a:t>Capital adequacy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CRAR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16.329999999999998</c:v>
                </c:pt>
                <c:pt idx="1">
                  <c:v>16.55</c:v>
                </c:pt>
                <c:pt idx="2">
                  <c:v>17.18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A7-4CC2-A0DD-10EA90DC62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CET-1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15.6</c:v>
                </c:pt>
                <c:pt idx="1">
                  <c:v>15.94</c:v>
                </c:pt>
                <c:pt idx="2">
                  <c:v>16.350000000000001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A7-4CC2-A0DD-10EA90DC6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/>
            </a:pPr>
            <a:r>
              <a:rPr lang="en-IN"/>
              <a:t>Asset-quality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NPA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2.16</c:v>
                </c:pt>
                <c:pt idx="1">
                  <c:v>1.67</c:v>
                </c:pt>
                <c:pt idx="2">
                  <c:v>1.44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2D-41C6-8054-EEE0960568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NPA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0.44</c:v>
                </c:pt>
                <c:pt idx="1">
                  <c:v>0.39</c:v>
                </c:pt>
                <c:pt idx="2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2D-41C6-8054-EEE0960568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45000">
              <a:schemeClr val="bg2"/>
            </a:gs>
            <a:gs pos="83000">
              <a:schemeClr val="bg2">
                <a:lumMod val="9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8E96E-C69A-DFAD-8392-9FADD5C1F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660" y="344804"/>
            <a:ext cx="10012680" cy="530488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&amp; CREDIT ANALYSIS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ICICI BANK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• Liquidity • Capital Structure • Credit Risk • Asset Quality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5A581-B514-F857-BBEC-9384DAB72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0" y="5826034"/>
            <a:ext cx="5114109" cy="843916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1"/>
                </a:solidFill>
              </a:rPr>
              <a:t>PRESENTED BY- AKANSHA SAINI (25PGDMFM006)</a:t>
            </a:r>
          </a:p>
        </p:txBody>
      </p:sp>
    </p:spTree>
    <p:extLst>
      <p:ext uri="{BB962C8B-B14F-4D97-AF65-F5344CB8AC3E}">
        <p14:creationId xmlns:p14="http://schemas.microsoft.com/office/powerpoint/2010/main" val="20573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A"/>
                </a:solidFill>
              </a:defRPr>
            </a:pPr>
            <a:r>
              <a:t>1.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30364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rPr sz="1100" dirty="0"/>
              <a:t>ICICI Bank | Earnings trend | ₹ crore unless stated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310472"/>
              </p:ext>
            </p:extLst>
          </p:nvPr>
        </p:nvGraphicFramePr>
        <p:xfrm>
          <a:off x="502919" y="1078992"/>
          <a:ext cx="6743272" cy="3562017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85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6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FY2024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FY2025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FY2026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Net Interest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74,306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81,165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88,075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Operating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58,122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67,299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70,401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Profit After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40,888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47,227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50,147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4.53%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4.32%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6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16.0%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439788"/>
              </p:ext>
            </p:extLst>
          </p:nvPr>
        </p:nvGraphicFramePr>
        <p:xfrm>
          <a:off x="7315200" y="1078992"/>
          <a:ext cx="452024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983486"/>
            <a:ext cx="3429000" cy="1256287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400"/>
              <a:t>PAT growth FY26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/>
              <a:t>(50,147 − 47,227) / 47,227 = 6.18%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983486"/>
            <a:ext cx="3429000" cy="1256287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400" dirty="0"/>
              <a:t>NII growth FY26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 dirty="0"/>
              <a:t>(88,075 − 81,165) / 81,165 = 8.52%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4983486"/>
            <a:ext cx="3886200" cy="1256287"/>
          </a:xfrm>
          <a:prstGeom prst="roundRect">
            <a:avLst/>
          </a:prstGeom>
          <a:solidFill>
            <a:srgbClr val="EBF6E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7850"/>
                </a:solidFill>
              </a:defRPr>
            </a:pPr>
            <a:r>
              <a:rPr sz="1400" dirty="0"/>
              <a:t>Assessment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 dirty="0"/>
              <a:t>STRONG — earnings grew, but NIM </a:t>
            </a:r>
            <a:r>
              <a:rPr lang="en-IN" sz="1400" dirty="0"/>
              <a:t>and ROE moderated versus FY24.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A"/>
                </a:solidFill>
              </a:defRPr>
            </a:pPr>
            <a:r>
              <a:t>2.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282481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rPr sz="1100" dirty="0"/>
              <a:t>ICICI Bank | Funding mix &amp; regulatory liquidity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48690"/>
              </p:ext>
            </p:extLst>
          </p:nvPr>
        </p:nvGraphicFramePr>
        <p:xfrm>
          <a:off x="399401" y="1078991"/>
          <a:ext cx="6869792" cy="35965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17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62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FY2024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FY2025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FY2026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62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CASA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40.4%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38.9%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62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LCR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122.84%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126.11%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125.64%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62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Total Deposits (₹ </a:t>
                      </a:r>
                      <a:r>
                        <a:rPr sz="1400" dirty="0" err="1"/>
                        <a:t>cr</a:t>
                      </a:r>
                      <a:r>
                        <a:rPr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14,12,825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16,10,348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17,94,625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03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Total Advances (₹ cr)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11,84,406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13,41,766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15,53,893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712886"/>
              </p:ext>
            </p:extLst>
          </p:nvPr>
        </p:nvGraphicFramePr>
        <p:xfrm>
          <a:off x="7401032" y="925790"/>
          <a:ext cx="4537494" cy="3473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081253"/>
            <a:ext cx="3429000" cy="1325297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400"/>
              <a:t>Deposit growth FY26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400"/>
              <a:t>(17,94,625 − 16,10,348) / 16,10,348 = 11.44%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081253"/>
            <a:ext cx="3429000" cy="1325297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400"/>
              <a:t>Advance growth FY26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400"/>
              <a:t>(15,53,893 − 13,41,766) / 13,41,766 = 15.81%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5081253"/>
            <a:ext cx="3886200" cy="1325297"/>
          </a:xfrm>
          <a:prstGeom prst="roundRect">
            <a:avLst/>
          </a:prstGeom>
          <a:solidFill>
            <a:srgbClr val="EBF6E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7850"/>
                </a:solidFill>
              </a:defRPr>
            </a:pPr>
            <a:r>
              <a:rPr sz="1400"/>
              <a:t>Assessment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400"/>
              <a:t>STRONG — LCR &gt;100% and a large deposit franchise; monitor faster advance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A"/>
                </a:solidFill>
              </a:defRPr>
            </a:pPr>
            <a:r>
              <a:t>3. CAPITAL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35557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rPr sz="1100" dirty="0"/>
              <a:t>ICICI Bank | Capital adequacy &amp; leverage | FY2024–FY2026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929434"/>
              </p:ext>
            </p:extLst>
          </p:nvPr>
        </p:nvGraphicFramePr>
        <p:xfrm>
          <a:off x="502918" y="1078992"/>
          <a:ext cx="6812280" cy="2929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235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Indicator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FY2024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FY2025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FY2026</a:t>
                      </a:r>
                    </a:p>
                  </a:txBody>
                  <a:tcPr>
                    <a:solidFill>
                      <a:srgbClr val="14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3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/>
                        <a:t>Debt /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/>
                        <a:t>0.21x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/>
                        <a:t>0.21x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 dirty="0"/>
                        <a:t>0.19x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3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 dirty="0"/>
                        <a:t>Total CAR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/>
                        <a:t>16.33%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/>
                        <a:t>16.55%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/>
                        <a:t>17.18%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3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 dirty="0"/>
                        <a:t>CET-1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/>
                        <a:t>15.60%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/>
                        <a:t>15.94%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600" dirty="0"/>
                        <a:t>16.35%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0" y="1078992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207104"/>
            <a:ext cx="3429000" cy="124479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400" dirty="0"/>
              <a:t>CAR buffer FY26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 dirty="0"/>
              <a:t>17.18% − 11.70% = 5.48 percentage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207104"/>
            <a:ext cx="3429000" cy="124479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400"/>
              <a:t>CET-1 buffer FY26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/>
              <a:t>16.35% − 8.20% = 8.15 percentage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4207104"/>
            <a:ext cx="3886200" cy="1244790"/>
          </a:xfrm>
          <a:prstGeom prst="roundRect">
            <a:avLst/>
          </a:prstGeom>
          <a:solidFill>
            <a:srgbClr val="EBF6E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7850"/>
                </a:solidFill>
              </a:defRPr>
            </a:pPr>
            <a:r>
              <a:rPr sz="1400"/>
              <a:t>Assessment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/>
              <a:t>VERY STRONG — capital buffers improved and remain well above RBI floors.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8" y="5600844"/>
            <a:ext cx="11155679" cy="822960"/>
          </a:xfrm>
          <a:prstGeom prst="roundRect">
            <a:avLst/>
          </a:prstGeom>
          <a:solidFill>
            <a:srgbClr val="F9F4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</a:rPr>
              <a:t>In FY2026, ICICI's CAR was </a:t>
            </a:r>
            <a:r>
              <a:rPr lang="en-IN" sz="1400" b="1" dirty="0">
                <a:solidFill>
                  <a:schemeClr val="tx1"/>
                </a:solidFill>
              </a:rPr>
              <a:t>17.18%</a:t>
            </a:r>
            <a:r>
              <a:rPr lang="en-IN" sz="1400" dirty="0">
                <a:solidFill>
                  <a:schemeClr val="tx1"/>
                </a:solidFill>
              </a:rPr>
              <a:t>, compared with the regulatory minimum of </a:t>
            </a:r>
            <a:r>
              <a:rPr lang="en-IN" sz="1400" b="1" dirty="0">
                <a:solidFill>
                  <a:schemeClr val="tx1"/>
                </a:solidFill>
              </a:rPr>
              <a:t>11.70%</a:t>
            </a:r>
            <a:r>
              <a:rPr lang="en-IN" sz="1400" dirty="0">
                <a:solidFill>
                  <a:schemeClr val="tx1"/>
                </a:solidFill>
              </a:rPr>
              <a:t>.</a:t>
            </a:r>
          </a:p>
          <a:p>
            <a:r>
              <a:rPr lang="en-IN" sz="1400" dirty="0">
                <a:solidFill>
                  <a:schemeClr val="tx1"/>
                </a:solidFill>
              </a:rPr>
              <a:t>Therefore, the bank had a buffer of approximately </a:t>
            </a:r>
            <a:r>
              <a:rPr lang="en-IN" sz="1400" b="1" dirty="0">
                <a:solidFill>
                  <a:schemeClr val="tx1"/>
                </a:solidFill>
              </a:rPr>
              <a:t>5.48 percentage points</a:t>
            </a:r>
            <a:r>
              <a:rPr lang="en-IN" sz="1400" dirty="0">
                <a:solidFill>
                  <a:schemeClr val="tx1"/>
                </a:solidFill>
              </a:rPr>
              <a:t> above the regulatory minimum</a:t>
            </a:r>
            <a:r>
              <a:rPr lang="en-IN" sz="1400" dirty="0"/>
              <a:t>.</a:t>
            </a:r>
          </a:p>
          <a:p>
            <a:pPr algn="ctr">
              <a:defRPr sz="1200" b="1">
                <a:solidFill>
                  <a:srgbClr val="B47814"/>
                </a:solidFill>
              </a:defRPr>
            </a:pP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19803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A"/>
                </a:solidFill>
              </a:defRPr>
            </a:pPr>
            <a:r>
              <a:rPr dirty="0"/>
              <a:t>4. CREDIT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34263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rPr sz="1200" dirty="0"/>
              <a:t>ICICI Bank | Asset quality &amp; credit-servicing capacity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8919"/>
              </p:ext>
            </p:extLst>
          </p:nvPr>
        </p:nvGraphicFramePr>
        <p:xfrm>
          <a:off x="502919" y="1078990"/>
          <a:ext cx="7013564" cy="34700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75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3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3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95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FY2024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FY2025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FY2026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5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Gross NPA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2.16%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1.44%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5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Net NPA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0.44%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0.39%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0.35%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4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Provision Coverage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80.3%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76.2%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75.8%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76559"/>
              </p:ext>
            </p:extLst>
          </p:nvPr>
        </p:nvGraphicFramePr>
        <p:xfrm>
          <a:off x="7596999" y="859536"/>
          <a:ext cx="4297680" cy="2962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4931723"/>
            <a:ext cx="3429000" cy="136555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400" dirty="0"/>
              <a:t>GNPA improvement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 dirty="0"/>
              <a:t>2.16% → 1.44% = 0.72 percentage-point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808" y="4931723"/>
            <a:ext cx="3429000" cy="136555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400"/>
              <a:t>NNPA improvement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/>
              <a:t>0.44% → 0.35% = 0.09 percentage-point improvement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93456" y="4931723"/>
            <a:ext cx="3886200" cy="1365559"/>
          </a:xfrm>
          <a:prstGeom prst="roundRect">
            <a:avLst/>
          </a:prstGeom>
          <a:solidFill>
            <a:srgbClr val="EBF6E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7850"/>
                </a:solidFill>
              </a:defRPr>
            </a:pPr>
            <a:r>
              <a:rPr sz="1400"/>
              <a:t>Assessment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/>
              <a:t>STRONG / IMPROVING — NPA ratios declined and PCR remains above 75%.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1112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A"/>
                </a:solidFill>
              </a:defRPr>
            </a:pPr>
            <a:r>
              <a:rPr sz="3200"/>
              <a:t>5. 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31563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rPr sz="1200"/>
              <a:t>ICICI Bank | Overall financial and credit position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030905"/>
              </p:ext>
            </p:extLst>
          </p:nvPr>
        </p:nvGraphicFramePr>
        <p:xfrm>
          <a:off x="502920" y="1078992"/>
          <a:ext cx="7101015" cy="36118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75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FY2024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FY2025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FY2026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</a:rPr>
                        <a:t>Assessment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Asset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GNPA 2.16%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GNPA 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GNPA 1.44%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STRONG / IMPROVING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Profitability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PAT ₹40,888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PAT ₹47,227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PAT ₹50,147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STRONG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Liquidity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LCR 122.84%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LCR 126.11%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LCR 125.64%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COMFORTABLE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CRAR 16.33%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CRAR 16.55%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CRAR 17.18%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VERY STRONG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Leverage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D/E 0.21x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D/E 0.21x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/>
                        <a:t>D/E 0.19x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232830"/>
                          </a:solidFill>
                        </a:defRPr>
                      </a:pPr>
                      <a:r>
                        <a:rPr sz="1400" dirty="0"/>
                        <a:t>COMFORTABLE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83878" y="1078992"/>
            <a:ext cx="3505201" cy="1398394"/>
          </a:xfrm>
          <a:prstGeom prst="roundRect">
            <a:avLst/>
          </a:prstGeom>
          <a:solidFill>
            <a:srgbClr val="E2F3E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7850"/>
                </a:solidFill>
              </a:defRPr>
            </a:pPr>
            <a:r>
              <a:rPr sz="1600" dirty="0"/>
              <a:t>OVERALL CREDIT VIEW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400" dirty="0"/>
              <a:t>STRONG / FAVOURABLE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2700670"/>
            <a:ext cx="3429000" cy="1624876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B4A"/>
                </a:solidFill>
              </a:defRPr>
            </a:pPr>
            <a:r>
              <a:rPr sz="1600" dirty="0"/>
              <a:t>Key strengths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 dirty="0"/>
              <a:t>• PAT growth</a:t>
            </a:r>
            <a:br>
              <a:rPr sz="1400" dirty="0"/>
            </a:br>
            <a:r>
              <a:rPr sz="1400" dirty="0"/>
              <a:t>• LCR consistently &gt;100%</a:t>
            </a:r>
            <a:br>
              <a:rPr sz="1400" dirty="0"/>
            </a:br>
            <a:r>
              <a:rPr sz="1400" dirty="0"/>
              <a:t>• CAR/CET-1 well above minima</a:t>
            </a:r>
            <a:br>
              <a:rPr sz="1400" dirty="0"/>
            </a:br>
            <a:r>
              <a:rPr sz="1400" dirty="0"/>
              <a:t>• GNPA/NNPA declining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4690872"/>
            <a:ext cx="3429000" cy="1822846"/>
          </a:xfrm>
          <a:prstGeom prst="roundRect">
            <a:avLst/>
          </a:prstGeom>
          <a:solidFill>
            <a:srgbClr val="F9F4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47814"/>
                </a:solidFill>
              </a:defRPr>
            </a:pPr>
            <a:r>
              <a:rPr sz="1600" dirty="0"/>
              <a:t>Watch-items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232830"/>
                </a:solidFill>
              </a:defRPr>
            </a:pPr>
            <a:r>
              <a:rPr sz="1400" dirty="0"/>
              <a:t>NIM below FY24</a:t>
            </a:r>
            <a:endParaRPr lang="en-IN" sz="1400" dirty="0"/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232830"/>
                </a:solidFill>
              </a:defRPr>
            </a:pPr>
            <a:r>
              <a:rPr sz="1400" dirty="0"/>
              <a:t> Advances &gt; deposit growth in FY26</a:t>
            </a:r>
            <a:endParaRPr lang="en-IN" sz="1400" dirty="0"/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232830"/>
                </a:solidFill>
              </a:defRPr>
            </a:pPr>
            <a:r>
              <a:rPr sz="1400" dirty="0"/>
              <a:t>ROE moderation</a:t>
            </a:r>
            <a:endParaRPr lang="en-IN" sz="1400" dirty="0"/>
          </a:p>
          <a:p>
            <a:pPr marL="171450" indent="-171450">
              <a:buFont typeface="Arial" panose="020B0604020202020204" pitchFamily="34" charset="0"/>
              <a:buChar char="•"/>
              <a:defRPr sz="1000">
                <a:solidFill>
                  <a:srgbClr val="232830"/>
                </a:solidFill>
              </a:defRPr>
            </a:pPr>
            <a:r>
              <a:rPr lang="en-GB" sz="1400" dirty="0"/>
              <a:t>Provision coverage should not reduce further</a:t>
            </a:r>
            <a:br>
              <a:rPr sz="1400" dirty="0"/>
            </a:br>
            <a:endParaRPr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5306931"/>
            <a:ext cx="7406640" cy="868680"/>
          </a:xfrm>
          <a:prstGeom prst="roundRect">
            <a:avLst/>
          </a:prstGeom>
          <a:solidFill>
            <a:srgbClr val="EBF6E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7850"/>
                </a:solidFill>
              </a:defRPr>
            </a:pPr>
            <a:r>
              <a:rPr sz="1600" dirty="0"/>
              <a:t>Final recommendation</a:t>
            </a:r>
          </a:p>
          <a:p>
            <a:pPr>
              <a:defRPr sz="1000">
                <a:solidFill>
                  <a:srgbClr val="232830"/>
                </a:solidFill>
              </a:defRPr>
            </a:pPr>
            <a:r>
              <a:rPr sz="1400" dirty="0"/>
              <a:t>ICICI Bank has a strong overall financial and credit position. Key monitoring areas are margins, deposit mobilization and asset quality.</a:t>
            </a:r>
            <a:r>
              <a:rPr lang="en-IN" sz="1400" dirty="0"/>
              <a:t> Final recommendation is to lend.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575</Words>
  <Application>Microsoft Office PowerPoint</Application>
  <PresentationFormat>Widescreen</PresentationFormat>
  <Paragraphs>159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FINANCIAL &amp; CREDIT ANALYSIS OF  ICICI BANK ON  Profitability • Liquidity • Capital Structure • Credit Risk • Asset Quality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a.saini2002@gmail.com</cp:lastModifiedBy>
  <cp:revision>30</cp:revision>
  <dcterms:created xsi:type="dcterms:W3CDTF">2013-01-27T09:14:16Z</dcterms:created>
  <dcterms:modified xsi:type="dcterms:W3CDTF">2026-09-10T06:19:56Z</dcterms:modified>
  <cp:category/>
</cp:coreProperties>
</file>